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8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300">
                <a:solidFill>
                  <a:srgbClr val="D8B15E"/>
                </a:solidFill>
                <a:latin typeface="Calibri"/>
              </a:rPr>
              <a:t>DR. SHANE TURNER, D.B.A.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4F8FC"/>
                </a:solidFill>
                <a:latin typeface="Georgia"/>
              </a:rPr>
              <a:t>Turning defense data into </a:t>
            </a:r>
            <a:r>
              <a:rPr sz="5200" b="1" i="0">
                <a:solidFill>
                  <a:srgbClr val="D8B15E"/>
                </a:solidFill>
                <a:latin typeface="Georgia"/>
              </a:rPr>
              <a:t>decision advantage.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0040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AEC8E2"/>
                </a:solidFill>
                <a:latin typeface="Calibri"/>
              </a:rPr>
              <a:t>Defense Growth &amp; Solutions Executive  ·  Enterprise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1188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AEC3D6"/>
                </a:solidFill>
                <a:latin typeface="Calibri"/>
              </a:rPr>
              <a:t>Layered Defense, Autonomous Warfare &amp; Integrated Fires Division  ·  Astrion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8B15E"/>
                </a:solidFill>
                <a:latin typeface="Calibri"/>
              </a:rPr>
              <a:t>Active TS Clearance</a:t>
            </a:r>
            <a:r>
              <a:rPr sz="1400" b="0" i="0">
                <a:solidFill>
                  <a:srgbClr val="AEC3D6"/>
                </a:solidFill>
                <a:latin typeface="Calibri"/>
              </a:rPr>
              <a:t>      Arizona      USMC Veteran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98348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8B15E"/>
                </a:solidFill>
                <a:latin typeface="Georgia"/>
              </a:rPr>
              <a:t>20+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69671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EC3D6"/>
                </a:solidFill>
                <a:latin typeface="Calibri"/>
              </a:rPr>
              <a:t>Years across five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498348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8B15E"/>
                </a:solidFill>
                <a:latin typeface="Georgia"/>
              </a:rPr>
              <a:t>$1B+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569671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EC3D6"/>
                </a:solidFill>
                <a:latin typeface="Calibri"/>
              </a:rPr>
              <a:t>In contract wins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498348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8B15E"/>
                </a:solidFill>
                <a:latin typeface="Georgia"/>
              </a:rPr>
              <a:t>$896M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569671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EC3D6"/>
                </a:solidFill>
                <a:latin typeface="Calibri"/>
              </a:rPr>
              <a:t>Navy program directed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8007" y="498348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8B15E"/>
                </a:solidFill>
                <a:latin typeface="Georgia"/>
              </a:rPr>
              <a:t>700+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8007" y="569671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EC3D6"/>
                </a:solidFill>
                <a:latin typeface="Calibri"/>
              </a:rPr>
              <a:t>Personnel 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642823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68BA1"/>
                </a:solidFill>
                <a:latin typeface="Calibri"/>
              </a:rPr>
              <a:t>Dr. Shane Turner  ·  Defense Growth &amp; Solutions Executive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642823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D8B15E"/>
                </a:solidFill>
                <a:latin typeface="Calibri"/>
              </a:rPr>
              <a:t>resume.st-dba.com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D8B15E"/>
                </a:solidFill>
                <a:latin typeface="Calibri"/>
              </a:rPr>
              <a:t>01 · EXECUTIVE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4F8FC"/>
                </a:solidFill>
                <a:latin typeface="Georgia"/>
              </a:rPr>
              <a:t>Executive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960120" cy="45720"/>
          </a:xfrm>
          <a:prstGeom prst="rect">
            <a:avLst/>
          </a:prstGeom>
          <a:solidFill>
            <a:srgbClr val="D8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5156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F4F8FC"/>
                </a:solidFill>
                <a:latin typeface="Calibri"/>
              </a:rPr>
              <a:t>Defense growth and solutions executive with 20+ years across Navy, Army, Air Force, Space, and USMC programs. Progressed from hands-on technical integration to $896M program execution, $1B+ in contract wins, and enterprise solutions and AI strategy.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900" b="0">
                <a:solidFill>
                  <a:srgbClr val="AEC3D6"/>
                </a:solidFill>
                <a:latin typeface="Calibri"/>
              </a:rPr>
              <a:t>Builds the data, evidence, and AI capability that turns operational, test, and training data into decision-grade insight for Layered Defense, Autonomous Warfare, and Integrated Fires.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900" b="0">
                <a:solidFill>
                  <a:srgbClr val="AEC3D6"/>
                </a:solidFill>
                <a:latin typeface="Calibri"/>
              </a:rPr>
              <a:t>Known for leading cleared technical teams, standing up enterprise AI programs with measured cost avoidance and ROI, modernizing live and virtual training ranges, and translating EW, C-UAS, directed energy, and multi-domain T&amp;E into customer-facing mission solutions.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2823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68BA1"/>
                </a:solidFill>
                <a:latin typeface="Calibri"/>
              </a:rPr>
              <a:t>Dr. Shane Turner  ·  Defense Growth &amp; Solutions Executive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642823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D8B15E"/>
                </a:solidFill>
                <a:latin typeface="Calibri"/>
              </a:rPr>
              <a:t>resume.st-dba.com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D8B15E"/>
                </a:solidFill>
                <a:latin typeface="Calibri"/>
              </a:rPr>
              <a:t>02 · 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4F8FC"/>
                </a:solidFill>
                <a:latin typeface="Georgia"/>
              </a:rPr>
              <a:t>Impact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960120" cy="45720"/>
          </a:xfrm>
          <a:prstGeom prst="rect">
            <a:avLst/>
          </a:prstGeom>
          <a:solidFill>
            <a:srgbClr val="D8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286000"/>
            <a:ext cx="2560320" cy="21945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69748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D8B15E"/>
                </a:solidFill>
                <a:latin typeface="Georgia"/>
              </a:rPr>
              <a:t>20+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611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AEC3D6"/>
                </a:solidFill>
                <a:latin typeface="Calibri"/>
              </a:rPr>
              <a:t>Years across five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0168" y="2286000"/>
            <a:ext cx="2560320" cy="21945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269748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D8B15E"/>
                </a:solidFill>
                <a:latin typeface="Georgia"/>
              </a:rPr>
              <a:t>$1B+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3048" y="3611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AEC3D6"/>
                </a:solidFill>
                <a:latin typeface="Calibri"/>
              </a:rPr>
              <a:t>In contract wins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9088" y="2286000"/>
            <a:ext cx="2560320" cy="21945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69748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D8B15E"/>
                </a:solidFill>
                <a:latin typeface="Georgia"/>
              </a:rPr>
              <a:t>$896M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3611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AEC3D6"/>
                </a:solidFill>
                <a:latin typeface="Calibri"/>
              </a:rPr>
              <a:t>Navy program directed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08007" y="2286000"/>
            <a:ext cx="2560320" cy="21945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8007" y="269748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D8B15E"/>
                </a:solidFill>
                <a:latin typeface="Georgia"/>
              </a:rPr>
              <a:t>700+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0887" y="3611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AEC3D6"/>
                </a:solidFill>
                <a:latin typeface="Calibri"/>
              </a:rPr>
              <a:t>Personnel 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642823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68BA1"/>
                </a:solidFill>
                <a:latin typeface="Calibri"/>
              </a:rPr>
              <a:t>Dr. Shane Turner  ·  Defense Growth &amp; Solutions Executive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642823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D8B15E"/>
                </a:solidFill>
                <a:latin typeface="Calibri"/>
              </a:rPr>
              <a:t>resume.st-dba.com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D8B15E"/>
                </a:solidFill>
                <a:latin typeface="Calibri"/>
              </a:rPr>
              <a:t>03 · SIGNATURE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4F8FC"/>
                </a:solidFill>
                <a:latin typeface="Georgia"/>
              </a:rPr>
              <a:t>Why teams bet on 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960120" cy="45720"/>
          </a:xfrm>
          <a:prstGeom prst="rect">
            <a:avLst/>
          </a:prstGeom>
          <a:solidFill>
            <a:srgbClr val="D8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148840"/>
            <a:ext cx="5212080" cy="1737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D8B15E"/>
                </a:solidFill>
                <a:latin typeface="Georgia"/>
              </a:rPr>
              <a:t>shAIne AI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2926080"/>
            <a:ext cx="4617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AEC3D6"/>
                </a:solidFill>
                <a:latin typeface="Calibri"/>
              </a:rPr>
              <a:t>Stood up an enterprise AI platform in its first month, with $53K–$73K documented cost avoidance and 77.4% adoption.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2148840"/>
            <a:ext cx="5212080" cy="1737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D8B15E"/>
                </a:solidFill>
                <a:latin typeface="Georgia"/>
              </a:rPr>
              <a:t>$1B+ in Contract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926080"/>
            <a:ext cx="4617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AEC3D6"/>
                </a:solidFill>
                <a:latin typeface="Calibri"/>
              </a:rPr>
              <a:t>Solution architecture, win themes, and capture across Navy, Army, Air Force, and USMC pursuits.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114800"/>
            <a:ext cx="5212080" cy="1737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4343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D8B15E"/>
                </a:solidFill>
                <a:latin typeface="Georgia"/>
              </a:rPr>
              <a:t>$896M Program · 700+ 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4892040"/>
            <a:ext cx="4617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AEC3D6"/>
                </a:solidFill>
                <a:latin typeface="Calibri"/>
              </a:rPr>
              <a:t>Directed a Navy training enterprise across the western United States.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4114800"/>
            <a:ext cx="5212080" cy="1737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4343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D8B15E"/>
                </a:solidFill>
                <a:latin typeface="Georgia"/>
              </a:rPr>
              <a:t>2025 ASTRYS Award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4892040"/>
            <a:ext cx="4617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AEC3D6"/>
                </a:solidFill>
                <a:latin typeface="Calibri"/>
              </a:rPr>
              <a:t>Strategic Excellence in Innovative Solutions, Astrion's highest company-level recognition.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642823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68BA1"/>
                </a:solidFill>
                <a:latin typeface="Calibri"/>
              </a:rPr>
              <a:t>Dr. Shane Turner  ·  Defense Growth &amp; Solutions Executive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642823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D8B15E"/>
                </a:solidFill>
                <a:latin typeface="Calibri"/>
              </a:rPr>
              <a:t>resume.st-dba.com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D8B15E"/>
                </a:solidFill>
                <a:latin typeface="Calibri"/>
              </a:rPr>
              <a:t>04 · 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4F8FC"/>
                </a:solidFill>
                <a:latin typeface="Georgia"/>
              </a:rPr>
              <a:t>What I bring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960120" cy="45720"/>
          </a:xfrm>
          <a:prstGeom prst="rect">
            <a:avLst/>
          </a:prstGeom>
          <a:solidFill>
            <a:srgbClr val="D8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148840"/>
            <a:ext cx="3429000" cy="7315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4F8FC"/>
                </a:solidFill>
                <a:latin typeface="Calibri"/>
              </a:rPr>
              <a:t>Artificial Intelligence &amp; ModelOps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2148840"/>
            <a:ext cx="3429000" cy="7315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148840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4F8FC"/>
                </a:solidFill>
                <a:latin typeface="Calibri"/>
              </a:rPr>
              <a:t>Solution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5008" y="2148840"/>
            <a:ext cx="3429000" cy="7315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4F8FC"/>
                </a:solidFill>
                <a:latin typeface="Calibri"/>
              </a:rPr>
              <a:t>Data Governance &amp;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081528"/>
            <a:ext cx="3429000" cy="7315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81528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4F8FC"/>
                </a:solidFill>
                <a:latin typeface="Calibri"/>
              </a:rPr>
              <a:t>Scenario &amp; Mission Modeling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3081528"/>
            <a:ext cx="3429000" cy="7315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081528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4F8FC"/>
                </a:solidFill>
                <a:latin typeface="Calibri"/>
              </a:rPr>
              <a:t>Multi-Domain Test &amp;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3081528"/>
            <a:ext cx="3429000" cy="7315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081528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4F8FC"/>
                </a:solidFill>
                <a:latin typeface="Calibri"/>
              </a:rPr>
              <a:t>Electronic Warfare &amp; C-UAS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014216"/>
            <a:ext cx="3429000" cy="7315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14216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4F8FC"/>
                </a:solidFill>
                <a:latin typeface="Calibri"/>
              </a:rPr>
              <a:t>Capture &amp; Win Strategy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53128" y="4014216"/>
            <a:ext cx="3429000" cy="7315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4014216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4F8FC"/>
                </a:solidFill>
                <a:latin typeface="Calibri"/>
              </a:rPr>
              <a:t>Executive Program Leadership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5008" y="4014216"/>
            <a:ext cx="3429000" cy="7315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014216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4F8FC"/>
                </a:solidFill>
                <a:latin typeface="Calibri"/>
              </a:rPr>
              <a:t>Cleared Workforce Leadership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946904"/>
            <a:ext cx="3429000" cy="7315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946904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4F8FC"/>
                </a:solidFill>
                <a:latin typeface="Calibri"/>
              </a:rPr>
              <a:t>Training Range Modernization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53128" y="4946904"/>
            <a:ext cx="3429000" cy="7315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4946904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4F8FC"/>
                </a:solidFill>
                <a:latin typeface="Calibri"/>
              </a:rPr>
              <a:t>FAR / DFAR Compliance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4946904"/>
            <a:ext cx="3429000" cy="7315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21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946904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4F8FC"/>
                </a:solidFill>
                <a:latin typeface="Calibri"/>
              </a:rPr>
              <a:t>Cost, Risk &amp; EVMS Discipline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642823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68BA1"/>
                </a:solidFill>
                <a:latin typeface="Calibri"/>
              </a:rPr>
              <a:t>Dr. Shane Turner  ·  Defense Growth &amp; Solutions Executive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642823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D8B15E"/>
                </a:solidFill>
                <a:latin typeface="Calibri"/>
              </a:rPr>
              <a:t>resume.st-dba.com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D8B15E"/>
                </a:solidFill>
                <a:latin typeface="Calibri"/>
              </a:rPr>
              <a:t>05 · EXPERIENCE · 2024–PRESENT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4F8FC"/>
                </a:solidFill>
                <a:latin typeface="Georgia"/>
              </a:rPr>
              <a:t>Astrion  ·  Huntsville, AL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960120" cy="45720"/>
          </a:xfrm>
          <a:prstGeom prst="rect">
            <a:avLst/>
          </a:prstGeom>
          <a:solidFill>
            <a:srgbClr val="D8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4F8FC"/>
                </a:solidFill>
                <a:latin typeface="Calibri"/>
              </a:rPr>
              <a:t>Senior Vice President, Solutions &amp; Artificial Intelligence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350" b="0">
                <a:solidFill>
                  <a:srgbClr val="D8B15E"/>
                </a:solidFill>
                <a:latin typeface="Calibri"/>
              </a:rPr>
              <a:t>Layered Defense, Autonomous Warfare &amp; Integrated Fires Division  ·  Jun 2026 – Present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0">
                <a:solidFill>
                  <a:srgbClr val="AEC3D6"/>
                </a:solidFill>
                <a:latin typeface="Calibri"/>
              </a:rPr>
              <a:t>•  Stood up shAIne, an enterprise AI platform, in month one with auditable ROI and 77.4% adoption.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500" b="0">
                <a:solidFill>
                  <a:srgbClr val="AEC3D6"/>
                </a:solidFill>
                <a:latin typeface="Calibri"/>
              </a:rPr>
              <a:t>•  Lead the data, evidence, analytics, ModelOps, and scenario development lane across Counter-UAS, EW, integrated fires, and multi-domain T&amp;E.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</a:pPr>
            <a:r>
              <a:rPr sz="1900" b="1">
                <a:solidFill>
                  <a:srgbClr val="F4F8FC"/>
                </a:solidFill>
                <a:latin typeface="Calibri"/>
              </a:rPr>
              <a:t>Vice President, Multi-Domain Test &amp; Evaluation</a:t>
            </a:r>
            <a:r>
              <a:rPr sz="1900" b="0">
                <a:solidFill>
                  <a:srgbClr val="AEC3D6"/>
                </a:solidFill>
                <a:latin typeface="Calibri"/>
              </a:rPr>
              <a:t>   ·   Oct 2024 – May 2026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0">
                <a:solidFill>
                  <a:srgbClr val="AEC3D6"/>
                </a:solidFill>
                <a:latin typeface="Calibri"/>
              </a:rPr>
              <a:t>•  Set division-level growth strategy across air, land, sea, space, and cyber; led solution architecture and capture for strategic proposals.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500" b="0">
                <a:solidFill>
                  <a:srgbClr val="AEC3D6"/>
                </a:solidFill>
                <a:latin typeface="Calibri"/>
              </a:rPr>
              <a:t>•  Built Astrion's AI Tiger Team; earned the 2025 ASTRYS Award for Strategic Excellence in Innovative Solutions.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2823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68BA1"/>
                </a:solidFill>
                <a:latin typeface="Calibri"/>
              </a:rPr>
              <a:t>Dr. Shane Turner  ·  Defense Growth &amp; Solutions Executive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642823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D8B15E"/>
                </a:solidFill>
                <a:latin typeface="Calibri"/>
              </a:rPr>
              <a:t>resume.st-dba.com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D8B15E"/>
                </a:solidFill>
                <a:latin typeface="Calibri"/>
              </a:rPr>
              <a:t>06 ·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4F8FC"/>
                </a:solidFill>
                <a:latin typeface="Georgia"/>
              </a:rPr>
              <a:t>Proven across the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960120" cy="45720"/>
          </a:xfrm>
          <a:prstGeom prst="rect">
            <a:avLst/>
          </a:prstGeom>
          <a:solidFill>
            <a:srgbClr val="D8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607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D8B15E"/>
                </a:solidFill>
                <a:latin typeface="Calibri"/>
              </a:rPr>
              <a:t>HII Mission Technologies  ·  Virginia Beach, VA  ·  2020 – 2024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500" b="0">
                <a:solidFill>
                  <a:srgbClr val="AEC3D6"/>
                </a:solidFill>
                <a:latin typeface="Calibri"/>
              </a:rPr>
              <a:t>•  Directed 700+ personnel on an $896M Navy contract; architected solutions contributing to $1B+ in wins across NCTE, NITE, and CTTR.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500" b="0">
                <a:solidFill>
                  <a:srgbClr val="AEC3D6"/>
                </a:solidFill>
                <a:latin typeface="Calibri"/>
              </a:rPr>
              <a:t>•  Stood up the U.S. Navy DESIL operations center at Point Mugu, enabling initial directed-energy weapon test events.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</a:pPr>
            <a:r>
              <a:rPr sz="1700" b="1">
                <a:solidFill>
                  <a:srgbClr val="D8B15E"/>
                </a:solidFill>
                <a:latin typeface="Calibri"/>
              </a:rPr>
              <a:t>Amentum / URS (AECOM)  ·  Yuma, AZ  ·  2010 – 2020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500" b="0">
                <a:solidFill>
                  <a:srgbClr val="AEC3D6"/>
                </a:solidFill>
                <a:latin typeface="Calibri"/>
              </a:rPr>
              <a:t>•  Led 123 multi-site contractors; achieved a three-year, 90,773+ hour zero-incident safety record, a program first.</a:t>
            </a:r>
          </a:p>
          <a:p>
            <a:pPr algn="l">
              <a:lnSpc>
                <a:spcPct val="105000"/>
              </a:lnSpc>
              <a:spcBef>
                <a:spcPts val="1600"/>
              </a:spcBef>
            </a:pPr>
            <a:r>
              <a:rPr sz="1700" b="1">
                <a:solidFill>
                  <a:srgbClr val="D8B15E"/>
                </a:solidFill>
                <a:latin typeface="Calibri"/>
              </a:rPr>
              <a:t>Early career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500" b="0">
                <a:solidFill>
                  <a:srgbClr val="AEC3D6"/>
                </a:solidFill>
                <a:latin typeface="Calibri"/>
              </a:rPr>
              <a:t>•  BAE Systems, Yuma Proving Ground: supported Future Combat Systems XM1203 NLOS-C prototype test and live-fire integration.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2823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68BA1"/>
                </a:solidFill>
                <a:latin typeface="Calibri"/>
              </a:rPr>
              <a:t>Dr. Shane Turner  ·  Defense Growth &amp; Solutions Executive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642823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D8B15E"/>
                </a:solidFill>
                <a:latin typeface="Calibri"/>
              </a:rPr>
              <a:t>resume.st-dba.com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D8B15E"/>
                </a:solidFill>
                <a:latin typeface="Calibri"/>
              </a:rPr>
              <a:t>07 ·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4F8FC"/>
                </a:solidFill>
                <a:latin typeface="Georgia"/>
              </a:rPr>
              <a:t>Education, service &amp; affiliations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27632"/>
            <a:ext cx="960120" cy="45720"/>
          </a:xfrm>
          <a:prstGeom prst="rect">
            <a:avLst/>
          </a:prstGeom>
          <a:solidFill>
            <a:srgbClr val="D8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F8FC"/>
                </a:solidFill>
                <a:latin typeface="Calibri"/>
              </a:rPr>
              <a:t>Doctor of Business Administration (D.B.A.), Management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400" b="0">
                <a:solidFill>
                  <a:srgbClr val="AEC3D6"/>
                </a:solidFill>
                <a:latin typeface="Calibri"/>
              </a:rPr>
              <a:t>National University · 2024 · with Distinction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700" b="1">
                <a:solidFill>
                  <a:srgbClr val="F4F8FC"/>
                </a:solidFill>
                <a:latin typeface="Calibri"/>
              </a:rPr>
              <a:t>M.S., Management Information Security</a:t>
            </a:r>
            <a:r>
              <a:rPr sz="1700" b="0">
                <a:solidFill>
                  <a:srgbClr val="AEC3D6"/>
                </a:solidFill>
                <a:latin typeface="Calibri"/>
              </a:rPr>
              <a:t>    Lewis University · 2015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700" b="1">
                <a:solidFill>
                  <a:srgbClr val="F4F8FC"/>
                </a:solidFill>
                <a:latin typeface="Calibri"/>
              </a:rPr>
              <a:t>B.S., Software Engineering</a:t>
            </a:r>
            <a:r>
              <a:rPr sz="1700" b="0">
                <a:solidFill>
                  <a:srgbClr val="AEC3D6"/>
                </a:solidFill>
                <a:latin typeface="Calibri"/>
              </a:rPr>
              <a:t>    University of Phoenix · 2009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700" b="1">
                <a:solidFill>
                  <a:srgbClr val="F4F8FC"/>
                </a:solidFill>
                <a:latin typeface="Calibri"/>
              </a:rPr>
              <a:t>United States Marine Corps Veteran</a:t>
            </a:r>
            <a:r>
              <a:rPr sz="1700" b="0">
                <a:solidFill>
                  <a:srgbClr val="AEC3D6"/>
                </a:solidFill>
                <a:latin typeface="Calibri"/>
              </a:rPr>
              <a:t>    1991 – 1997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600" b="1">
                <a:solidFill>
                  <a:srgbClr val="D8B15E"/>
                </a:solidFill>
                <a:latin typeface="Calibri"/>
              </a:rPr>
              <a:t>Affiliations:  </a:t>
            </a:r>
            <a:r>
              <a:rPr sz="1600" b="0">
                <a:solidFill>
                  <a:srgbClr val="AEC3D6"/>
                </a:solidFill>
                <a:latin typeface="Calibri"/>
              </a:rPr>
              <a:t>AUSA · NDIA · ITEA · PMI · IEEE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2823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68BA1"/>
                </a:solidFill>
                <a:latin typeface="Calibri"/>
              </a:rPr>
              <a:t>Dr. Shane Turner  ·  Defense Growth &amp; Solutions Executive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642823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D8B15E"/>
                </a:solidFill>
                <a:latin typeface="Calibri"/>
              </a:rPr>
              <a:t>resume.st-dba.com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828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300">
                <a:solidFill>
                  <a:srgbClr val="D8B15E"/>
                </a:solidFill>
                <a:latin typeface="Calibri"/>
              </a:rPr>
              <a:t>LET'S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4F8FC"/>
                </a:solidFill>
                <a:latin typeface="Georgia"/>
              </a:rPr>
              <a:t>Building the data, evidence, and AI advantage,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AEC3D6"/>
                </a:solidFill>
                <a:latin typeface="Calibri"/>
              </a:rPr>
              <a:t>Open to executive and senior leadership conversations across defense growth, solutions, and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70916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8B15E"/>
                </a:solidFill>
                <a:latin typeface="Calibri"/>
              </a:rPr>
              <a:t>Email   </a:t>
            </a:r>
            <a:r>
              <a:rPr sz="1800" b="0" i="0">
                <a:solidFill>
                  <a:srgbClr val="F4F8FC"/>
                </a:solidFill>
                <a:latin typeface="Calibri"/>
              </a:rPr>
              <a:t>shane@st-dba.com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21208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8B15E"/>
                </a:solidFill>
                <a:latin typeface="Calibri"/>
              </a:rPr>
              <a:t>LinkedIn   </a:t>
            </a:r>
            <a:r>
              <a:rPr sz="1800" b="0" i="0">
                <a:solidFill>
                  <a:srgbClr val="F4F8FC"/>
                </a:solidFill>
                <a:latin typeface="Calibri"/>
              </a:rPr>
              <a:t>linkedin.com/in/drshaneturner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71500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8B15E"/>
                </a:solidFill>
                <a:latin typeface="Calibri"/>
              </a:rPr>
              <a:t>Web   </a:t>
            </a:r>
            <a:r>
              <a:rPr sz="1800" b="0" i="0">
                <a:solidFill>
                  <a:srgbClr val="F4F8FC"/>
                </a:solidFill>
                <a:latin typeface="Calibri"/>
              </a:rPr>
              <a:t>resume.st-dba.com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8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hane-turner-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